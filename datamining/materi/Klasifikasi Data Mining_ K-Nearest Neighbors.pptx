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DM Sans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BD7E90-8434-4EB8-8C04-007E16DF2702}">
  <a:tblStyle styleId="{76BD7E90-8434-4EB8-8C04-007E16DF270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22" Type="http://schemas.openxmlformats.org/officeDocument/2006/relationships/font" Target="fonts/DMSans-italic.fntdata"/><Relationship Id="rId21" Type="http://schemas.openxmlformats.org/officeDocument/2006/relationships/font" Target="fonts/DMSans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7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2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11" Type="http://schemas.openxmlformats.org/officeDocument/2006/relationships/image" Target="../media/image10.png"/><Relationship Id="rId10" Type="http://schemas.openxmlformats.org/officeDocument/2006/relationships/image" Target="../media/image11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13.png"/><Relationship Id="rId7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96884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DATA MINING SERIES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662237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Klasifikasi: K-Nearest Neighbors (KNN)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60533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Memahami Konsep, Mekanisme, dan Penentuan Nilai K Optimal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2208014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2095500" y="3446264"/>
            <a:ext cx="8001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Apa itu Algoritma KNN?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2286000" y="3932039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KNN adalah algoritma </a:t>
            </a:r>
            <a:r>
              <a:rPr b="0" i="1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Supervised Learning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yang mengklasifikasikan data baru berdasarkan mayoritas kelas dari tetangga terdekatnya.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78633"/>
            <a:ext cx="5286375" cy="2358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78633"/>
            <a:ext cx="5286375" cy="2358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866775" y="3173908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Lazy Learner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66775" y="3726358"/>
            <a:ext cx="46958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Tidak memiliki fase pelatihan eksplisit. Algoritma ini hanya menyimpan data latih dan melakukan kalkulasi saat ada kueri (data uji) masuk.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629400" y="3173908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Non-Parametrik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629400" y="3726358"/>
            <a:ext cx="46958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Algoritma ini tidak membuat asumsi tentang distribusi data yang mendasarinya, sehingga sangat fleksibel untuk berbagai pola data.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212008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21200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71437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Karakteristik Utama KNN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1428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2808386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Prinsip dasar KNN adalah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kedekatan fitur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Objek yang memiliki karakteristik serupa cenderung berada di wilayah yang berdekatan.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76300" y="402437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52500" y="4023419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Menentukan kelas data baru dengan melihat data yang sudah ada di sekitarnya.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76300" y="469469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52500" y="4693741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Keputusan diambil berdasarkan suara mayoritas (voting) dari K tetangga terdekat.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71437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Intuisi: "Siapa Tetanggamu?"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71500" y="1428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6800" y="2126625"/>
            <a:ext cx="4361300" cy="392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9058"/>
            <a:ext cx="2547937" cy="3177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469058"/>
            <a:ext cx="2547937" cy="3177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469058"/>
            <a:ext cx="2547937" cy="3177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2469058"/>
            <a:ext cx="2547937" cy="31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817840" y="3583483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Parameter K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66775" y="4135933"/>
            <a:ext cx="1957387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Tentukan jumlah tetangga (K) yang akan digunakan.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3651527" y="3583483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Hitung Jarak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3700462" y="4135933"/>
            <a:ext cx="1957387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Hitung jarak antara data uji dengan semua data latih.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485215" y="3583483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Urutkan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534150" y="4135933"/>
            <a:ext cx="1957387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Urutkan hasil jarak dan pilih K tetangga terdekat.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318902" y="3583483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Voting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367837" y="4135933"/>
            <a:ext cx="1957387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Tentukan kelas mayoritas sebagai hasil akhir.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07343" y="2821483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98181" y="2821483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46143" y="2821483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79831" y="2821483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571500" y="71437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Tahapan Kerja Algoritma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1428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66641"/>
            <a:ext cx="11049000" cy="183147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2296269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Perhitungan jarak paling umum digunakan dalam KNN untuk menentukan kedekatan antar titik data dalam ruang dimensi-n.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548386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 mana p dan q adalah dua titik yang dibandingkan dalam n-dimensi.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9383" y="3747641"/>
            <a:ext cx="5488334" cy="106947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71437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Metrik Jarak: Euclidean Distance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1428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714375"/>
            <a:ext cx="52006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Penentuan Nilai K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71500" y="1428750"/>
            <a:ext cx="4953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42875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71500" y="2409229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Tips Memilih K Optimal: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2837854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1. Gunakan angka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Ganjil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untuk menghindari seri (tie) pada voting.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3927276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2. K terlalu kecil membuat model sensitif terhadap noise (</a:t>
            </a:r>
            <a:r>
              <a:rPr b="0" i="1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overfitting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5016698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3. K terlalu besar membuat batas keputusan terlalu halus (</a:t>
            </a:r>
            <a:r>
              <a:rPr b="0" i="1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underfitting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2910780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100%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4510980"/>
            <a:ext cx="52863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Tanpa Asumsi Distribusi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334125" y="290066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Mengapa Ini Penting?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334125" y="3329285"/>
            <a:ext cx="5286375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Kebanyakan algoritma statistika mengasumsikan data terdistribusi secara normal (Gaussian). KNN tidak membutuhkan hal tersebut, sehingga efektif digunakan untuk data dunia nyata yang seringkali tidak beraturan atau memiliki pola yang kompleks.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71437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Fleksibilitas Algoritma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71500" y="1428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6982"/>
            <a:ext cx="53816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36959" y="5094982"/>
            <a:ext cx="56507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Euclidean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571500" y="5523607"/>
            <a:ext cx="5381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Jarak garis lurus (Diagonal)</a:t>
            </a:r>
            <a:endParaRPr/>
          </a:p>
        </p:txBody>
      </p:sp>
      <p:pic>
        <p:nvPicPr>
          <p:cNvPr descr="image.png" id="198" name="Google Shape;19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046982"/>
            <a:ext cx="53816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6104334" y="5094982"/>
            <a:ext cx="56507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Manhattan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238875" y="5523607"/>
            <a:ext cx="5381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Jarak "City Block" (Siku-siku)</a:t>
            </a:r>
            <a:endParaRPr/>
          </a:p>
        </p:txBody>
      </p:sp>
      <p:pic>
        <p:nvPicPr>
          <p:cNvPr descr="image.png" id="201" name="Google Shape;20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46982"/>
            <a:ext cx="53816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82012" y="2523232"/>
            <a:ext cx="8953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571500" y="71437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Visualisasi Metrik Jarak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571500" y="1428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22"/>
          <p:cNvGraphicFramePr/>
          <p:nvPr/>
        </p:nvGraphicFramePr>
        <p:xfrm>
          <a:off x="571500" y="25815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{76BD7E90-8434-4EB8-8C04-007E16DF2702}</a:tableStyleId>
              </a:tblPr>
              <a:tblGrid>
                <a:gridCol w="1669550"/>
                <a:gridCol w="4488200"/>
                <a:gridCol w="4891225"/>
              </a:tblGrid>
              <a:tr h="6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Aspek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Kelebihan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Kekurangan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6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Implementasi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Sangat sederhana dan mudah dimengerti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Membutuhkan penyimpanan data yang besar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Efektivitas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Efisien untuk data latih yang kecil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Sangat lambat pada data skala besar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Ketahanan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Robust terhadap data yang bising (noise)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Sensitif terhadap fitur yang tidak relevan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Parameter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Hanya butuh menentukan nilai 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Butuh scaling data (normalisasi)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2" name="Google Shape;212;p22"/>
          <p:cNvSpPr/>
          <p:nvPr/>
        </p:nvSpPr>
        <p:spPr>
          <a:xfrm>
            <a:off x="571500" y="3818632"/>
            <a:ext cx="16695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2241053" y="3818632"/>
            <a:ext cx="44882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6729263" y="3818632"/>
            <a:ext cx="48912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71500" y="4449067"/>
            <a:ext cx="16695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2241053" y="4449067"/>
            <a:ext cx="44882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6729263" y="4449067"/>
            <a:ext cx="48912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71500" y="5079503"/>
            <a:ext cx="16695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2241053" y="5079503"/>
            <a:ext cx="44882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6729263" y="5079503"/>
            <a:ext cx="48912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571500" y="5709939"/>
            <a:ext cx="16695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2241053" y="5709939"/>
            <a:ext cx="44882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6729263" y="5709939"/>
            <a:ext cx="48912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571500" y="71437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Analisis Kekuatan &amp; Kelemahan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71500" y="1428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71500" y="4038600"/>
            <a:ext cx="110490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510733" y="3889176"/>
            <a:ext cx="25521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Koleksi Data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571500" y="4394001"/>
            <a:ext cx="243066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Menyiapkan dataset berlabel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3383413" y="3889176"/>
            <a:ext cx="25521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Preprocessing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3444180" y="4394001"/>
            <a:ext cx="243066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Normalisasi atau Standardisasi fitur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256094" y="3889176"/>
            <a:ext cx="25521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Klasifikasi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6316860" y="4394001"/>
            <a:ext cx="243066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Pencarian tetangga &amp; voting mayoritas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9128774" y="3889176"/>
            <a:ext cx="25521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Evaluasi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9189541" y="4394001"/>
            <a:ext cx="243066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Menghitung akurasi model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571500" y="71437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Workflow Implementasi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71500" y="1428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1691580" y="420052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4564260" y="420052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7436941" y="420052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10309621" y="420052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3660695" y="2153542"/>
            <a:ext cx="487060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Terima Kasih!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3776662" y="3182242"/>
            <a:ext cx="46386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Ada Pertanyaan Terkait KNN?</a:t>
            </a:r>
            <a:endParaRPr/>
          </a:p>
        </p:txBody>
      </p:sp>
      <p:pic>
        <p:nvPicPr>
          <p:cNvPr descr="image.png" id="255" name="Google Shape;25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4085183"/>
            <a:ext cx="952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288518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366995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36604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36604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44451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44451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8" name="Google Shape;2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34605"/>
            <a:ext cx="1800225" cy="67032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666875" y="302805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https://i.ytimg.com/vi/wTF6vzS9fy4/sddefault.jpg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666875" y="327377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www.youtube.com</a:t>
            </a:r>
            <a:endParaRPr/>
          </a:p>
        </p:txBody>
      </p:sp>
      <p:pic>
        <p:nvPicPr>
          <p:cNvPr descr="image.png" id="271" name="Google Shape;27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93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666875" y="381282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https://miro.medium.com/1*xjDuuzX_Nw9PwejSM98JOg.jpeg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1666875" y="405854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  <p:pic>
        <p:nvPicPr>
          <p:cNvPr descr="image.png" id="274" name="Google Shape;27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04146"/>
            <a:ext cx="1543050" cy="67032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1666875" y="459759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https://upload.wikimedia.org/wikipedia/commons/5/55/Euclidean_distance_2d.svg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1666875" y="484331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en.wikipedia.org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571500" y="71437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571500" y="1428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